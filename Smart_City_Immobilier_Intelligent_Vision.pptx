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3017520"/>
            <a:ext cx="822960" cy="384048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828800"/>
            <a:ext cx="640080" cy="5029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3383280"/>
            <a:ext cx="1097280" cy="347472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2286000"/>
            <a:ext cx="548640" cy="4572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0" y="2743200"/>
            <a:ext cx="731520" cy="411480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PREMIUM ·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City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8C5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Immobilier Intelligent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4630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09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tout-en-un fusionnant marketplace immobilière, services métiers, gestion d'actifs et écosystème Smart City connecté.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·  ARCHITECTURE  ·  EXPÉRIENCE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 MATIÈRES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lecture en quatre temps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0881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9456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60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83080" y="2267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&amp; Écosystème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2606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et ses acteurs connectés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10881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5468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461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783080" y="32278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Fonctionnels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35661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services, Smart City, IA, finance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0881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1480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062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783080" y="4187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Technique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83080" y="4526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frontend, mobile, DevOps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074920"/>
            <a:ext cx="10881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507492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663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783080" y="51480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 Expérience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83080" y="54864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premium, palette et inspirations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01 ·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14630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Connecter, intelligemment, l'ensemble des acteurs de l'immobilier et des services techniques associés au sein d'une plateforme unique, premium et entièrement digitale.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2606040" cy="219456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4800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 immobilière intelligente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577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annonces, gestion locative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9272" y="4023360"/>
            <a:ext cx="2606040" cy="219456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9272" y="4023360"/>
            <a:ext cx="73152" cy="21945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3547872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47872" y="4800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de services métiers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47872" y="5577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Handyman &amp; artisans certifiés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9904" y="4023360"/>
            <a:ext cx="2606040" cy="219456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4023360"/>
            <a:ext cx="73152" cy="21945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0" name="Text 18"/>
          <p:cNvSpPr/>
          <p:nvPr/>
        </p:nvSpPr>
        <p:spPr>
          <a:xfrm>
            <a:off x="6318504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18504" y="4800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Réseau de gestion d'actifs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18504" y="5577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Suivi, rendement, maintenance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60536" y="4023360"/>
            <a:ext cx="2606040" cy="219456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0536" y="4023360"/>
            <a:ext cx="73152" cy="21945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9089136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89136" y="4800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mobile communautaire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89136" y="5577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public, géolocalisée, sociale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· L'ÉCOSYSTÈME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 CONNECTÉS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hub central reliant 8 profils métiers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394960" y="3611880"/>
            <a:ext cx="1371600" cy="1371600"/>
          </a:xfrm>
          <a:prstGeom prst="ellipse">
            <a:avLst/>
          </a:prstGeom>
          <a:solidFill>
            <a:srgbClr val="0A1628"/>
          </a:solidFill>
          <a:ln w="31750">
            <a:solidFill>
              <a:srgbClr val="C9A961"/>
            </a:solidFill>
            <a:prstDash val="solid"/>
          </a:ln>
          <a:effectLst>
            <a:outerShdw sx="100000" sy="100000" kx="0" ky="0" algn="bl" rotWithShape="0" blurRad="177800" dist="50800" dir="5400000">
              <a:srgbClr val="0A162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663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6636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6636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C5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Immobilier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4297680"/>
            <a:ext cx="0" cy="-1981962"/>
          </a:xfrm>
          <a:prstGeom prst="line">
            <a:avLst/>
          </a:prstGeom>
          <a:noFill/>
          <a:ln w="12700">
            <a:solidFill>
              <a:srgbClr val="C9A96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737860" y="1972818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165" y="2127123"/>
            <a:ext cx="377190" cy="37719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49240" y="160705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4297680"/>
            <a:ext cx="1648775" cy="-1401459"/>
          </a:xfrm>
          <a:prstGeom prst="line">
            <a:avLst/>
          </a:prstGeom>
          <a:noFill/>
          <a:ln w="12700">
            <a:solidFill>
              <a:srgbClr val="C9A961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386635" y="2553321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940" y="2707626"/>
            <a:ext cx="377190" cy="3771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118155" y="275906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80760" y="4297680"/>
            <a:ext cx="233172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8069580" y="395478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885" y="4109085"/>
            <a:ext cx="377190" cy="3771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0110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080760" y="4297680"/>
            <a:ext cx="1648775" cy="1401459"/>
          </a:xfrm>
          <a:prstGeom prst="line">
            <a:avLst/>
          </a:prstGeom>
          <a:noFill/>
          <a:ln w="12700">
            <a:solidFill>
              <a:srgbClr val="C9A961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7386635" y="5356239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940" y="5510544"/>
            <a:ext cx="377190" cy="37719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118155" y="556197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Locataires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080760" y="4297680"/>
            <a:ext cx="0" cy="1981962"/>
          </a:xfrm>
          <a:prstGeom prst="line">
            <a:avLst/>
          </a:prstGeom>
          <a:noFill/>
          <a:ln w="12700">
            <a:solidFill>
              <a:srgbClr val="C9A961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5737860" y="5936742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165" y="6091047"/>
            <a:ext cx="377190" cy="37719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49240" y="666826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Démarcheurs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80760" y="4297680"/>
            <a:ext cx="-1648775" cy="1401459"/>
          </a:xfrm>
          <a:prstGeom prst="line">
            <a:avLst/>
          </a:prstGeom>
          <a:noFill/>
          <a:ln w="12700">
            <a:solidFill>
              <a:srgbClr val="C9A961"/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4089085" y="5356239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3390" y="5510544"/>
            <a:ext cx="377190" cy="37719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580325" y="556197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080760" y="4297680"/>
            <a:ext cx="-233172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dash"/>
          </a:ln>
        </p:spPr>
      </p:sp>
      <p:sp>
        <p:nvSpPr>
          <p:cNvPr id="36" name="Shape 28"/>
          <p:cNvSpPr/>
          <p:nvPr/>
        </p:nvSpPr>
        <p:spPr>
          <a:xfrm>
            <a:off x="3406140" y="395478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0445" y="4109085"/>
            <a:ext cx="377190" cy="37719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89738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BTP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080760" y="4297680"/>
            <a:ext cx="-1648775" cy="-1401459"/>
          </a:xfrm>
          <a:prstGeom prst="line">
            <a:avLst/>
          </a:prstGeom>
          <a:noFill/>
          <a:ln w="12700">
            <a:solidFill>
              <a:srgbClr val="C9A961"/>
            </a:solidFill>
            <a:prstDash val="dash"/>
          </a:ln>
        </p:spPr>
      </p:sp>
      <p:sp>
        <p:nvSpPr>
          <p:cNvPr id="40" name="Shape 31"/>
          <p:cNvSpPr/>
          <p:nvPr/>
        </p:nvSpPr>
        <p:spPr>
          <a:xfrm>
            <a:off x="4089085" y="2553321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3390" y="2707626"/>
            <a:ext cx="377190" cy="37719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2580325" y="275906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Prestataires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02 ·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PILIERS FONCTIONNELS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plateforme, quatre univers complémentaires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26060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286000"/>
            <a:ext cx="73152" cy="3657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286000" y="256032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018" y="2704338"/>
            <a:ext cx="352044" cy="3520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356616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Immobilière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960" y="45720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Annonces, visites, contrats, paiements, locations longue et courte durée.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383280" y="2286000"/>
            <a:ext cx="26060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2286000"/>
            <a:ext cx="73152" cy="3657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4"/>
          <p:cNvSpPr/>
          <p:nvPr/>
        </p:nvSpPr>
        <p:spPr>
          <a:xfrm>
            <a:off x="361188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5074920" y="256032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938" y="2704338"/>
            <a:ext cx="352044" cy="35204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611880" y="356616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7"/>
          <p:cNvSpPr/>
          <p:nvPr/>
        </p:nvSpPr>
        <p:spPr>
          <a:xfrm>
            <a:off x="361188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Services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3611880" y="45720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métiers du bâtiment et de l'habitat avec géolocalisation et avis.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172200" y="2286000"/>
            <a:ext cx="26060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72200" y="2286000"/>
            <a:ext cx="73152" cy="3657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Shape 22"/>
          <p:cNvSpPr/>
          <p:nvPr/>
        </p:nvSpPr>
        <p:spPr>
          <a:xfrm>
            <a:off x="7863840" y="256032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858" y="2704338"/>
            <a:ext cx="352044" cy="35204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400800" y="356616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9" name="Text 24"/>
          <p:cNvSpPr/>
          <p:nvPr/>
        </p:nvSpPr>
        <p:spPr>
          <a:xfrm>
            <a:off x="640080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Réseau d'Actifs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6400800" y="45720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du portefeuille immobilier, rendement et maintenance prédictive.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8961120" y="2286000"/>
            <a:ext cx="26060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961120" y="2286000"/>
            <a:ext cx="73152" cy="3657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Text 28"/>
          <p:cNvSpPr/>
          <p:nvPr/>
        </p:nvSpPr>
        <p:spPr>
          <a:xfrm>
            <a:off x="918972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4" name="Shape 29"/>
          <p:cNvSpPr/>
          <p:nvPr/>
        </p:nvSpPr>
        <p:spPr>
          <a:xfrm>
            <a:off x="10652760" y="256032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6778" y="2704338"/>
            <a:ext cx="352044" cy="35204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9189720" y="3566160"/>
            <a:ext cx="45720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7" name="Text 31"/>
          <p:cNvSpPr/>
          <p:nvPr/>
        </p:nvSpPr>
        <p:spPr>
          <a:xfrm>
            <a:off x="9189720" y="3703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Communautaire</a:t>
            </a:r>
            <a:endParaRPr lang="en-US" sz="1700" dirty="0"/>
          </a:p>
        </p:txBody>
      </p:sp>
      <p:sp>
        <p:nvSpPr>
          <p:cNvPr id="38" name="Text 32"/>
          <p:cNvSpPr/>
          <p:nvPr/>
        </p:nvSpPr>
        <p:spPr>
          <a:xfrm>
            <a:off x="9189720" y="45720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grand public, sociale, géolocalisée et notifications temps réel.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MARKETPLACE IMMOBILIÈRE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PROPRIÉTAIRES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Publier, gérer et monétiser ses biens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BIENS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91236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788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86000" y="2606040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23160" y="2788920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604" y="291236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63240" y="2788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977640" y="2606040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0" y="2788920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244" y="291236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788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4360" y="3611880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391820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794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Magasins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286000" y="3611880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423160" y="3794760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6604" y="391820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63240" y="3794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977640" y="3611880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114800" y="3794760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244" y="3918204"/>
            <a:ext cx="301752" cy="30175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4880" y="3794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Entrepôts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989320" y="2194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PROPRIÉTAIRE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5989320" y="2606040"/>
            <a:ext cx="5760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5989320" y="2606040"/>
            <a:ext cx="73152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5" name="Shape 27"/>
          <p:cNvSpPr/>
          <p:nvPr/>
        </p:nvSpPr>
        <p:spPr>
          <a:xfrm>
            <a:off x="6080760" y="2670048"/>
            <a:ext cx="365760" cy="3657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2752344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3796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Médias riches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vidéos, visites virtuelles 360°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989320" y="3200400"/>
            <a:ext cx="5760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5989320" y="3200400"/>
            <a:ext cx="73152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1" name="Shape 32"/>
          <p:cNvSpPr/>
          <p:nvPr/>
        </p:nvSpPr>
        <p:spPr>
          <a:xfrm>
            <a:off x="6080760" y="3264408"/>
            <a:ext cx="365760" cy="3657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346704"/>
            <a:ext cx="201168" cy="20116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53796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Géolocalisation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877824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GPS précise du bien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5989320" y="3794760"/>
            <a:ext cx="5760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5989320" y="3794760"/>
            <a:ext cx="73152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7" name="Shape 37"/>
          <p:cNvSpPr/>
          <p:nvPr/>
        </p:nvSpPr>
        <p:spPr>
          <a:xfrm>
            <a:off x="6080760" y="3858768"/>
            <a:ext cx="365760" cy="3657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3056" y="3941064"/>
            <a:ext cx="201168" cy="20116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653796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Demandes de visite</a:t>
            </a:r>
            <a:endParaRPr lang="en-US" sz="1200" dirty="0"/>
          </a:p>
        </p:txBody>
      </p:sp>
      <p:sp>
        <p:nvSpPr>
          <p:cNvPr id="50" name="Text 39"/>
          <p:cNvSpPr/>
          <p:nvPr/>
        </p:nvSpPr>
        <p:spPr>
          <a:xfrm>
            <a:off x="877824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intégré et confirmations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5989320" y="4389120"/>
            <a:ext cx="5760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5989320" y="4389120"/>
            <a:ext cx="73152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3" name="Shape 42"/>
          <p:cNvSpPr/>
          <p:nvPr/>
        </p:nvSpPr>
        <p:spPr>
          <a:xfrm>
            <a:off x="6080760" y="4453128"/>
            <a:ext cx="365760" cy="3657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3056" y="4535424"/>
            <a:ext cx="201168" cy="20116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6537960" y="4434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Messagerie</a:t>
            </a:r>
            <a:endParaRPr lang="en-US" sz="1200" dirty="0"/>
          </a:p>
        </p:txBody>
      </p:sp>
      <p:sp>
        <p:nvSpPr>
          <p:cNvPr id="56" name="Text 44"/>
          <p:cNvSpPr/>
          <p:nvPr/>
        </p:nvSpPr>
        <p:spPr>
          <a:xfrm>
            <a:off x="8778240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temps réel avec prospects</a:t>
            </a:r>
            <a:endParaRPr lang="en-US" sz="1000" dirty="0"/>
          </a:p>
        </p:txBody>
      </p:sp>
      <p:sp>
        <p:nvSpPr>
          <p:cNvPr id="57" name="Shape 45"/>
          <p:cNvSpPr/>
          <p:nvPr/>
        </p:nvSpPr>
        <p:spPr>
          <a:xfrm>
            <a:off x="5989320" y="4983480"/>
            <a:ext cx="5760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8" name="Shape 46"/>
          <p:cNvSpPr/>
          <p:nvPr/>
        </p:nvSpPr>
        <p:spPr>
          <a:xfrm>
            <a:off x="5989320" y="4983480"/>
            <a:ext cx="73152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9" name="Shape 47"/>
          <p:cNvSpPr/>
          <p:nvPr/>
        </p:nvSpPr>
        <p:spPr>
          <a:xfrm>
            <a:off x="6080760" y="5047488"/>
            <a:ext cx="365760" cy="3657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3056" y="5129784"/>
            <a:ext cx="201168" cy="201168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6537960" y="5029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Contrats numériques</a:t>
            </a:r>
            <a:endParaRPr lang="en-US" sz="1200" dirty="0"/>
          </a:p>
        </p:txBody>
      </p:sp>
      <p:sp>
        <p:nvSpPr>
          <p:cNvPr id="62" name="Text 49"/>
          <p:cNvSpPr/>
          <p:nvPr/>
        </p:nvSpPr>
        <p:spPr>
          <a:xfrm>
            <a:off x="8778240" y="5029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électronique des baux</a:t>
            </a:r>
            <a:endParaRPr lang="en-US" sz="1000" dirty="0"/>
          </a:p>
        </p:txBody>
      </p:sp>
      <p:sp>
        <p:nvSpPr>
          <p:cNvPr id="63" name="Shape 50"/>
          <p:cNvSpPr/>
          <p:nvPr/>
        </p:nvSpPr>
        <p:spPr>
          <a:xfrm>
            <a:off x="5989320" y="5577840"/>
            <a:ext cx="5760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51"/>
          <p:cNvSpPr/>
          <p:nvPr/>
        </p:nvSpPr>
        <p:spPr>
          <a:xfrm>
            <a:off x="5989320" y="5577840"/>
            <a:ext cx="73152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5" name="Shape 52"/>
          <p:cNvSpPr/>
          <p:nvPr/>
        </p:nvSpPr>
        <p:spPr>
          <a:xfrm>
            <a:off x="6080760" y="5641848"/>
            <a:ext cx="365760" cy="3657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3056" y="5724144"/>
            <a:ext cx="201168" cy="201168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6537960" y="5623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Suivi loyers</a:t>
            </a:r>
            <a:endParaRPr lang="en-US" sz="1200" dirty="0"/>
          </a:p>
        </p:txBody>
      </p:sp>
      <p:sp>
        <p:nvSpPr>
          <p:cNvPr id="68" name="Text 54"/>
          <p:cNvSpPr/>
          <p:nvPr/>
        </p:nvSpPr>
        <p:spPr>
          <a:xfrm>
            <a:off x="8778240" y="5623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Encaissements, relances, historique</a:t>
            </a:r>
            <a:endParaRPr lang="en-US" sz="1000" dirty="0"/>
          </a:p>
        </p:txBody>
      </p:sp>
      <p:sp>
        <p:nvSpPr>
          <p:cNvPr id="69" name="Text 5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70" name="Text 56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MARKETPLACE IMMOBILIÈRE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UTILISATEURS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Rechercher, visiter, payer en quelques clics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2103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240280"/>
            <a:ext cx="73152" cy="1417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404872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2528316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Rechercher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3447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intelligent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697480" y="2953512"/>
            <a:ext cx="164592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862072" y="2240280"/>
            <a:ext cx="2103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62072" y="2240280"/>
            <a:ext cx="73152" cy="1417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Shape 14"/>
          <p:cNvSpPr/>
          <p:nvPr/>
        </p:nvSpPr>
        <p:spPr>
          <a:xfrm>
            <a:off x="3639312" y="2404872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56" y="2528316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953512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953512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Filtrer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953512" y="3447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 · Budget · Type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965192" y="2953512"/>
            <a:ext cx="164592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129784" y="2240280"/>
            <a:ext cx="2103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129784" y="2240280"/>
            <a:ext cx="73152" cy="1417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Shape 21"/>
          <p:cNvSpPr/>
          <p:nvPr/>
        </p:nvSpPr>
        <p:spPr>
          <a:xfrm>
            <a:off x="5907024" y="2404872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468" y="2528316"/>
            <a:ext cx="301752" cy="30175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21224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03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221224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Réserver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221224" y="3447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physique ou virtuelle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7232904" y="2953512"/>
            <a:ext cx="164592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7397496" y="2240280"/>
            <a:ext cx="2103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7397496" y="2240280"/>
            <a:ext cx="73152" cy="1417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Shape 28"/>
          <p:cNvSpPr/>
          <p:nvPr/>
        </p:nvSpPr>
        <p:spPr>
          <a:xfrm>
            <a:off x="8174736" y="2404872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80" y="2528316"/>
            <a:ext cx="301752" cy="30175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488936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04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7488936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Contacter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7488936" y="3447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Échanger avec le bailleur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9500616" y="2953512"/>
            <a:ext cx="164592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  <a:tailEnd type="triangle"/>
          </a:ln>
        </p:spPr>
      </p:sp>
      <p:sp>
        <p:nvSpPr>
          <p:cNvPr id="39" name="Shape 33"/>
          <p:cNvSpPr/>
          <p:nvPr/>
        </p:nvSpPr>
        <p:spPr>
          <a:xfrm>
            <a:off x="9665208" y="2240280"/>
            <a:ext cx="2103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9665208" y="2240280"/>
            <a:ext cx="73152" cy="1417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1" name="Shape 35"/>
          <p:cNvSpPr/>
          <p:nvPr/>
        </p:nvSpPr>
        <p:spPr>
          <a:xfrm>
            <a:off x="10442448" y="2404872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5892" y="2528316"/>
            <a:ext cx="301752" cy="30175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756648" y="3017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05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9756648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Payer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9756648" y="3447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ligne, sécurisé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594360" y="4023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DISPONIBLES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594360" y="4434840"/>
            <a:ext cx="2194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1325880" y="4663440"/>
            <a:ext cx="731520" cy="73152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472" y="4828032"/>
            <a:ext cx="402336" cy="402336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94360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Ville</a:t>
            </a:r>
            <a:endParaRPr lang="en-US" sz="1400" dirty="0"/>
          </a:p>
        </p:txBody>
      </p:sp>
      <p:sp>
        <p:nvSpPr>
          <p:cNvPr id="51" name="Shape 43"/>
          <p:cNvSpPr/>
          <p:nvPr/>
        </p:nvSpPr>
        <p:spPr>
          <a:xfrm>
            <a:off x="2953512" y="4434840"/>
            <a:ext cx="2194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3685032" y="4663440"/>
            <a:ext cx="731520" cy="73152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9624" y="4828032"/>
            <a:ext cx="402336" cy="402336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2953512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</a:t>
            </a:r>
            <a:endParaRPr lang="en-US" sz="1400" dirty="0"/>
          </a:p>
        </p:txBody>
      </p:sp>
      <p:sp>
        <p:nvSpPr>
          <p:cNvPr id="55" name="Shape 46"/>
          <p:cNvSpPr/>
          <p:nvPr/>
        </p:nvSpPr>
        <p:spPr>
          <a:xfrm>
            <a:off x="5312664" y="4434840"/>
            <a:ext cx="2194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6044184" y="4663440"/>
            <a:ext cx="731520" cy="73152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4828032"/>
            <a:ext cx="402336" cy="402336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5312664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Quartier</a:t>
            </a:r>
            <a:endParaRPr lang="en-US" sz="1400" dirty="0"/>
          </a:p>
        </p:txBody>
      </p:sp>
      <p:sp>
        <p:nvSpPr>
          <p:cNvPr id="59" name="Shape 49"/>
          <p:cNvSpPr/>
          <p:nvPr/>
        </p:nvSpPr>
        <p:spPr>
          <a:xfrm>
            <a:off x="7671816" y="4434840"/>
            <a:ext cx="2194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Shape 50"/>
          <p:cNvSpPr/>
          <p:nvPr/>
        </p:nvSpPr>
        <p:spPr>
          <a:xfrm>
            <a:off x="8403336" y="4663440"/>
            <a:ext cx="731520" cy="73152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7928" y="4828032"/>
            <a:ext cx="402336" cy="402336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7671816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de bien</a:t>
            </a:r>
            <a:endParaRPr lang="en-US" sz="1400" dirty="0"/>
          </a:p>
        </p:txBody>
      </p:sp>
      <p:sp>
        <p:nvSpPr>
          <p:cNvPr id="63" name="Shape 52"/>
          <p:cNvSpPr/>
          <p:nvPr/>
        </p:nvSpPr>
        <p:spPr>
          <a:xfrm>
            <a:off x="10030968" y="4434840"/>
            <a:ext cx="2194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53"/>
          <p:cNvSpPr/>
          <p:nvPr/>
        </p:nvSpPr>
        <p:spPr>
          <a:xfrm>
            <a:off x="10762488" y="4663440"/>
            <a:ext cx="731520" cy="73152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7080" y="4828032"/>
            <a:ext cx="402336" cy="402336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10030968" y="5486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Standing</a:t>
            </a:r>
            <a:endParaRPr lang="en-US" sz="1400" dirty="0"/>
          </a:p>
        </p:txBody>
      </p:sp>
      <p:sp>
        <p:nvSpPr>
          <p:cNvPr id="67" name="Text 5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68" name="Text 56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MARKETPLACE SERVICES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HANDYMAN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Plus de 15 métiers à portée de clic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96112" y="2194560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19456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2313432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48" y="2436876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19072" y="2286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Plombier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529584" y="2194560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9584" y="219456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Shape 11"/>
          <p:cNvSpPr/>
          <p:nvPr/>
        </p:nvSpPr>
        <p:spPr>
          <a:xfrm>
            <a:off x="3694176" y="2313432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436876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52544" y="2286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Maçon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63056" y="2194560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63056" y="219456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Shape 15"/>
          <p:cNvSpPr/>
          <p:nvPr/>
        </p:nvSpPr>
        <p:spPr>
          <a:xfrm>
            <a:off x="6327648" y="2313432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2436876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86016" y="2286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Staffeur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796528" y="2194560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796528" y="219456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Shape 19"/>
          <p:cNvSpPr/>
          <p:nvPr/>
        </p:nvSpPr>
        <p:spPr>
          <a:xfrm>
            <a:off x="8961120" y="2313432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564" y="2436876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19488" y="2286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Carreleur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96112" y="3136392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96112" y="3136392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9" name="Shape 23"/>
          <p:cNvSpPr/>
          <p:nvPr/>
        </p:nvSpPr>
        <p:spPr>
          <a:xfrm>
            <a:off x="1060704" y="3255264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148" y="3378708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719072" y="322783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Peintre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3529584" y="3136392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529584" y="3136392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4" name="Shape 27"/>
          <p:cNvSpPr/>
          <p:nvPr/>
        </p:nvSpPr>
        <p:spPr>
          <a:xfrm>
            <a:off x="3694176" y="3255264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7620" y="3378708"/>
            <a:ext cx="301752" cy="30175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352544" y="322783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Électricien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163056" y="3136392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163056" y="3136392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9" name="Shape 31"/>
          <p:cNvSpPr/>
          <p:nvPr/>
        </p:nvSpPr>
        <p:spPr>
          <a:xfrm>
            <a:off x="6327648" y="3255264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092" y="3378708"/>
            <a:ext cx="301752" cy="30175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986016" y="322783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Menuisier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8796528" y="3136392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8796528" y="3136392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4" name="Shape 35"/>
          <p:cNvSpPr/>
          <p:nvPr/>
        </p:nvSpPr>
        <p:spPr>
          <a:xfrm>
            <a:off x="8961120" y="3255264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4564" y="3378708"/>
            <a:ext cx="301752" cy="30175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9619488" y="322783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Architecte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896112" y="4078224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896112" y="4078224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9" name="Shape 39"/>
          <p:cNvSpPr/>
          <p:nvPr/>
        </p:nvSpPr>
        <p:spPr>
          <a:xfrm>
            <a:off x="1060704" y="4197096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4148" y="4320540"/>
            <a:ext cx="301752" cy="30175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719072" y="416966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Décorateur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3529584" y="4078224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3529584" y="4078224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4" name="Shape 43"/>
          <p:cNvSpPr/>
          <p:nvPr/>
        </p:nvSpPr>
        <p:spPr>
          <a:xfrm>
            <a:off x="3694176" y="4197096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7620" y="4320540"/>
            <a:ext cx="301752" cy="301752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4352544" y="416966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Serrurier</a:t>
            </a:r>
            <a:endParaRPr lang="en-US" sz="1300" dirty="0"/>
          </a:p>
        </p:txBody>
      </p:sp>
      <p:sp>
        <p:nvSpPr>
          <p:cNvPr id="57" name="Shape 45"/>
          <p:cNvSpPr/>
          <p:nvPr/>
        </p:nvSpPr>
        <p:spPr>
          <a:xfrm>
            <a:off x="6163056" y="4078224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8" name="Shape 46"/>
          <p:cNvSpPr/>
          <p:nvPr/>
        </p:nvSpPr>
        <p:spPr>
          <a:xfrm>
            <a:off x="6163056" y="4078224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9" name="Shape 47"/>
          <p:cNvSpPr/>
          <p:nvPr/>
        </p:nvSpPr>
        <p:spPr>
          <a:xfrm>
            <a:off x="6327648" y="4197096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1092" y="4320540"/>
            <a:ext cx="301752" cy="301752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6986016" y="416966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Climatiseur</a:t>
            </a:r>
            <a:endParaRPr lang="en-US" sz="1300" dirty="0"/>
          </a:p>
        </p:txBody>
      </p:sp>
      <p:sp>
        <p:nvSpPr>
          <p:cNvPr id="62" name="Shape 49"/>
          <p:cNvSpPr/>
          <p:nvPr/>
        </p:nvSpPr>
        <p:spPr>
          <a:xfrm>
            <a:off x="8796528" y="4078224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3" name="Shape 50"/>
          <p:cNvSpPr/>
          <p:nvPr/>
        </p:nvSpPr>
        <p:spPr>
          <a:xfrm>
            <a:off x="8796528" y="4078224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4" name="Shape 51"/>
          <p:cNvSpPr/>
          <p:nvPr/>
        </p:nvSpPr>
        <p:spPr>
          <a:xfrm>
            <a:off x="8961120" y="4197096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4564" y="4320540"/>
            <a:ext cx="301752" cy="301752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9619488" y="416966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Jardinier</a:t>
            </a:r>
            <a:endParaRPr lang="en-US" sz="1300" dirty="0"/>
          </a:p>
        </p:txBody>
      </p:sp>
      <p:sp>
        <p:nvSpPr>
          <p:cNvPr id="67" name="Shape 53"/>
          <p:cNvSpPr/>
          <p:nvPr/>
        </p:nvSpPr>
        <p:spPr>
          <a:xfrm>
            <a:off x="896112" y="5020056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8" name="Shape 54"/>
          <p:cNvSpPr/>
          <p:nvPr/>
        </p:nvSpPr>
        <p:spPr>
          <a:xfrm>
            <a:off x="896112" y="5020056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9" name="Shape 55"/>
          <p:cNvSpPr/>
          <p:nvPr/>
        </p:nvSpPr>
        <p:spPr>
          <a:xfrm>
            <a:off x="1060704" y="5138928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7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4148" y="5262372"/>
            <a:ext cx="301752" cy="301752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1719072" y="511149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Nettoyage</a:t>
            </a:r>
            <a:endParaRPr lang="en-US" sz="1300" dirty="0"/>
          </a:p>
        </p:txBody>
      </p:sp>
      <p:sp>
        <p:nvSpPr>
          <p:cNvPr id="72" name="Shape 57"/>
          <p:cNvSpPr/>
          <p:nvPr/>
        </p:nvSpPr>
        <p:spPr>
          <a:xfrm>
            <a:off x="3529584" y="5020056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73" name="Shape 58"/>
          <p:cNvSpPr/>
          <p:nvPr/>
        </p:nvSpPr>
        <p:spPr>
          <a:xfrm>
            <a:off x="3529584" y="5020056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4" name="Shape 59"/>
          <p:cNvSpPr/>
          <p:nvPr/>
        </p:nvSpPr>
        <p:spPr>
          <a:xfrm>
            <a:off x="3694176" y="5138928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7620" y="5262372"/>
            <a:ext cx="301752" cy="301752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4352544" y="511149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77" name="Shape 61"/>
          <p:cNvSpPr/>
          <p:nvPr/>
        </p:nvSpPr>
        <p:spPr>
          <a:xfrm>
            <a:off x="6163056" y="5020056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78" name="Shape 62"/>
          <p:cNvSpPr/>
          <p:nvPr/>
        </p:nvSpPr>
        <p:spPr>
          <a:xfrm>
            <a:off x="6163056" y="5020056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9" name="Shape 63"/>
          <p:cNvSpPr/>
          <p:nvPr/>
        </p:nvSpPr>
        <p:spPr>
          <a:xfrm>
            <a:off x="6327648" y="5138928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8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1092" y="5262372"/>
            <a:ext cx="301752" cy="301752"/>
          </a:xfrm>
          <a:prstGeom prst="rect">
            <a:avLst/>
          </a:prstGeom>
        </p:spPr>
      </p:pic>
      <p:sp>
        <p:nvSpPr>
          <p:cNvPr id="81" name="Text 64"/>
          <p:cNvSpPr/>
          <p:nvPr/>
        </p:nvSpPr>
        <p:spPr>
          <a:xfrm>
            <a:off x="6986016" y="511149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Déménageur</a:t>
            </a:r>
            <a:endParaRPr lang="en-US" sz="1300" dirty="0"/>
          </a:p>
        </p:txBody>
      </p:sp>
      <p:sp>
        <p:nvSpPr>
          <p:cNvPr id="82" name="Shape 65"/>
          <p:cNvSpPr/>
          <p:nvPr/>
        </p:nvSpPr>
        <p:spPr>
          <a:xfrm>
            <a:off x="8796528" y="5020056"/>
            <a:ext cx="2468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3" name="Shape 66"/>
          <p:cNvSpPr/>
          <p:nvPr/>
        </p:nvSpPr>
        <p:spPr>
          <a:xfrm>
            <a:off x="8796528" y="5020056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4" name="Shape 67"/>
          <p:cNvSpPr/>
          <p:nvPr/>
        </p:nvSpPr>
        <p:spPr>
          <a:xfrm>
            <a:off x="8961120" y="5138928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8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84564" y="5262372"/>
            <a:ext cx="301752" cy="301752"/>
          </a:xfrm>
          <a:prstGeom prst="rect">
            <a:avLst/>
          </a:prstGeom>
        </p:spPr>
      </p:pic>
      <p:sp>
        <p:nvSpPr>
          <p:cNvPr id="86" name="Text 68"/>
          <p:cNvSpPr/>
          <p:nvPr/>
        </p:nvSpPr>
        <p:spPr>
          <a:xfrm>
            <a:off x="9619488" y="511149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plus...</a:t>
            </a:r>
            <a:endParaRPr lang="en-US" sz="1300" dirty="0"/>
          </a:p>
        </p:txBody>
      </p:sp>
      <p:sp>
        <p:nvSpPr>
          <p:cNvPr id="87" name="Text 6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88" name="Text 70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MARKETPLACE SERVICES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PROFESSIONNEL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carte de visite digitale complète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1188" y="2331720"/>
            <a:ext cx="3703320" cy="169164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2331720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" y="2651760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526" y="2795778"/>
            <a:ext cx="352044" cy="3520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58468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 pro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58468" y="3108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Identité, certifications, zones d'intervention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29100" y="2331720"/>
            <a:ext cx="3703320" cy="169164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29100" y="2331720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Shape 12"/>
          <p:cNvSpPr/>
          <p:nvPr/>
        </p:nvSpPr>
        <p:spPr>
          <a:xfrm>
            <a:off x="4503420" y="2651760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38" y="279577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2638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Portefeuille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326380" y="3108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de réalisations photo &amp; vidéo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97012" y="2331720"/>
            <a:ext cx="3703320" cy="169164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97012" y="2331720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Shape 17"/>
          <p:cNvSpPr/>
          <p:nvPr/>
        </p:nvSpPr>
        <p:spPr>
          <a:xfrm>
            <a:off x="8371332" y="2651760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2795778"/>
            <a:ext cx="352044" cy="3520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94292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Avis &amp; notation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194292" y="31089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réputation transparent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61188" y="4187952"/>
            <a:ext cx="3703320" cy="169164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61188" y="4187952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Shape 22"/>
          <p:cNvSpPr/>
          <p:nvPr/>
        </p:nvSpPr>
        <p:spPr>
          <a:xfrm>
            <a:off x="635508" y="4507992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" y="4652010"/>
            <a:ext cx="352044" cy="3520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58468" y="4462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Géolocalisation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1458468" y="49651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proximité temps réel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229100" y="4187952"/>
            <a:ext cx="3703320" cy="169164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229100" y="4187952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Shape 27"/>
          <p:cNvSpPr/>
          <p:nvPr/>
        </p:nvSpPr>
        <p:spPr>
          <a:xfrm>
            <a:off x="4503420" y="4507992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438" y="4652010"/>
            <a:ext cx="352044" cy="3520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26380" y="4462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Réservation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5326380" y="49651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Disponibilités et calendrier en ligne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8097012" y="4187952"/>
            <a:ext cx="3703320" cy="169164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097012" y="4187952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9" name="Shape 32"/>
          <p:cNvSpPr/>
          <p:nvPr/>
        </p:nvSpPr>
        <p:spPr>
          <a:xfrm>
            <a:off x="8371332" y="4507992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350" y="4652010"/>
            <a:ext cx="352044" cy="3520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194292" y="4462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Portefeuille élec.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9194292" y="49651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Encaissements, retraits, historique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SMART CITY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CONNECTÉ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capacités pour bâtir la ville intelligente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65176" y="2331720"/>
            <a:ext cx="2194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5176" y="2331720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996696" y="260604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77063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02336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Bâtiments intelligents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624328" y="2331720"/>
            <a:ext cx="2194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24328" y="2331720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Shape 11"/>
          <p:cNvSpPr/>
          <p:nvPr/>
        </p:nvSpPr>
        <p:spPr>
          <a:xfrm>
            <a:off x="3355848" y="260604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77063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61488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Contrôle RFID/QR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83480" y="2331720"/>
            <a:ext cx="2194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83480" y="2331720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Shape 15"/>
          <p:cNvSpPr/>
          <p:nvPr/>
        </p:nvSpPr>
        <p:spPr>
          <a:xfrm>
            <a:off x="5715000" y="260604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77063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064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Vidéosurveillance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42632" y="2331720"/>
            <a:ext cx="2194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42632" y="2331720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Shape 19"/>
          <p:cNvSpPr/>
          <p:nvPr/>
        </p:nvSpPr>
        <p:spPr>
          <a:xfrm>
            <a:off x="8074152" y="260604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277063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79792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IoT immobilier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701784" y="2331720"/>
            <a:ext cx="2194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701784" y="2331720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9" name="Shape 23"/>
          <p:cNvSpPr/>
          <p:nvPr/>
        </p:nvSpPr>
        <p:spPr>
          <a:xfrm>
            <a:off x="10433304" y="2606040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2770632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38944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énergétique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265176" y="4187952"/>
            <a:ext cx="2194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265176" y="4187952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4" name="Shape 27"/>
          <p:cNvSpPr/>
          <p:nvPr/>
        </p:nvSpPr>
        <p:spPr>
          <a:xfrm>
            <a:off x="996696" y="4462272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288" y="4626864"/>
            <a:ext cx="402336" cy="40233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02336" y="5285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prédictive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2624328" y="4187952"/>
            <a:ext cx="2194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2624328" y="4187952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9" name="Shape 31"/>
          <p:cNvSpPr/>
          <p:nvPr/>
        </p:nvSpPr>
        <p:spPr>
          <a:xfrm>
            <a:off x="3355848" y="4462272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4626864"/>
            <a:ext cx="402336" cy="40233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2761488" y="5285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parking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4983480" y="4187952"/>
            <a:ext cx="2194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4983480" y="4187952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4" name="Shape 35"/>
          <p:cNvSpPr/>
          <p:nvPr/>
        </p:nvSpPr>
        <p:spPr>
          <a:xfrm>
            <a:off x="5715000" y="4462272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9592" y="4626864"/>
            <a:ext cx="402336" cy="40233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120640" y="5285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visiteurs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7342632" y="4187952"/>
            <a:ext cx="2194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7342632" y="4187952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9" name="Shape 39"/>
          <p:cNvSpPr/>
          <p:nvPr/>
        </p:nvSpPr>
        <p:spPr>
          <a:xfrm>
            <a:off x="8074152" y="4462272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8744" y="4626864"/>
            <a:ext cx="402336" cy="402336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479792" y="5285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Domotique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9701784" y="4187952"/>
            <a:ext cx="21945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9701784" y="4187952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4" name="Shape 43"/>
          <p:cNvSpPr/>
          <p:nvPr/>
        </p:nvSpPr>
        <p:spPr>
          <a:xfrm>
            <a:off x="10433304" y="4462272"/>
            <a:ext cx="731520" cy="7315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97896" y="4626864"/>
            <a:ext cx="402336" cy="402336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9838944" y="5285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Suivi incidents</a:t>
            </a:r>
            <a:endParaRPr lang="en-US" sz="1300" dirty="0"/>
          </a:p>
        </p:txBody>
      </p:sp>
      <p:sp>
        <p:nvSpPr>
          <p:cNvPr id="57" name="Text 4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INTELLIGENCE ARTIFICIELLE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MODULES 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L'intelligence au cœur de l'expérience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65176" y="2331720"/>
            <a:ext cx="219456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" y="2331720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560320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579" y="2694051"/>
            <a:ext cx="326898" cy="3268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56616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Estimation prix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6616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automatique des biens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24328" y="2331720"/>
            <a:ext cx="219456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24328" y="2331720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Shape 12"/>
          <p:cNvSpPr/>
          <p:nvPr/>
        </p:nvSpPr>
        <p:spPr>
          <a:xfrm>
            <a:off x="3429000" y="2560320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731" y="2694051"/>
            <a:ext cx="326898" cy="32689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15768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Recommandation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715768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personnalisées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983480" y="2331720"/>
            <a:ext cx="219456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983480" y="2331720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Shape 17"/>
          <p:cNvSpPr/>
          <p:nvPr/>
        </p:nvSpPr>
        <p:spPr>
          <a:xfrm>
            <a:off x="5788152" y="2560320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883" y="2694051"/>
            <a:ext cx="326898" cy="32689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7492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074920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Locataire ↔ Propriétaire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342632" y="2331720"/>
            <a:ext cx="219456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42632" y="2331720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Shape 22"/>
          <p:cNvSpPr/>
          <p:nvPr/>
        </p:nvSpPr>
        <p:spPr>
          <a:xfrm>
            <a:off x="8147304" y="2560320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035" y="2694051"/>
            <a:ext cx="326898" cy="32689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34072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Anti-fraude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434072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comportements suspects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9701784" y="2331720"/>
            <a:ext cx="219456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701784" y="2331720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Shape 27"/>
          <p:cNvSpPr/>
          <p:nvPr/>
        </p:nvSpPr>
        <p:spPr>
          <a:xfrm>
            <a:off x="10506456" y="2560320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0187" y="2694051"/>
            <a:ext cx="326898" cy="32689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93224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confiance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793224" y="3611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des profils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265176" y="4279392"/>
            <a:ext cx="219456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265176" y="4279392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9" name="Shape 32"/>
          <p:cNvSpPr/>
          <p:nvPr/>
        </p:nvSpPr>
        <p:spPr>
          <a:xfrm>
            <a:off x="1069848" y="4507992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579" y="4641723"/>
            <a:ext cx="326898" cy="32689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56616" y="5193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immobilier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356616" y="5559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24/7 conversationnelle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2624328" y="4279392"/>
            <a:ext cx="219456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2624328" y="4279392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5" name="Shape 37"/>
          <p:cNvSpPr/>
          <p:nvPr/>
        </p:nvSpPr>
        <p:spPr>
          <a:xfrm>
            <a:off x="3429000" y="4507992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2731" y="4641723"/>
            <a:ext cx="326898" cy="32689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2715768" y="5193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 vocal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2715768" y="5559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navigation à la voix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4983480" y="4279392"/>
            <a:ext cx="219456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4983480" y="4279392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1" name="Shape 42"/>
          <p:cNvSpPr/>
          <p:nvPr/>
        </p:nvSpPr>
        <p:spPr>
          <a:xfrm>
            <a:off x="5788152" y="4507992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1883" y="4641723"/>
            <a:ext cx="326898" cy="326898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074920" y="5193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tendances</a:t>
            </a:r>
            <a:endParaRPr lang="en-US" sz="1300" dirty="0"/>
          </a:p>
        </p:txBody>
      </p:sp>
      <p:sp>
        <p:nvSpPr>
          <p:cNvPr id="54" name="Text 44"/>
          <p:cNvSpPr/>
          <p:nvPr/>
        </p:nvSpPr>
        <p:spPr>
          <a:xfrm>
            <a:off x="5074920" y="5559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Marché, prix, saisons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7342632" y="4279392"/>
            <a:ext cx="219456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7342632" y="4279392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7" name="Shape 47"/>
          <p:cNvSpPr/>
          <p:nvPr/>
        </p:nvSpPr>
        <p:spPr>
          <a:xfrm>
            <a:off x="8147304" y="4507992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1035" y="4641723"/>
            <a:ext cx="326898" cy="326898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7434072" y="5193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Génération annonces</a:t>
            </a:r>
            <a:endParaRPr lang="en-US" sz="1300" dirty="0"/>
          </a:p>
        </p:txBody>
      </p:sp>
      <p:sp>
        <p:nvSpPr>
          <p:cNvPr id="60" name="Text 49"/>
          <p:cNvSpPr/>
          <p:nvPr/>
        </p:nvSpPr>
        <p:spPr>
          <a:xfrm>
            <a:off x="7434072" y="5559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automatique IA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9701784" y="4279392"/>
            <a:ext cx="219456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9701784" y="4279392"/>
            <a:ext cx="219456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3" name="Shape 52"/>
          <p:cNvSpPr/>
          <p:nvPr/>
        </p:nvSpPr>
        <p:spPr>
          <a:xfrm>
            <a:off x="10506456" y="4507992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0187" y="4641723"/>
            <a:ext cx="326898" cy="326898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9793224" y="5193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IA logement</a:t>
            </a:r>
            <a:endParaRPr lang="en-US" sz="1300" dirty="0"/>
          </a:p>
        </p:txBody>
      </p:sp>
      <p:sp>
        <p:nvSpPr>
          <p:cNvPr id="66" name="Text 54"/>
          <p:cNvSpPr/>
          <p:nvPr/>
        </p:nvSpPr>
        <p:spPr>
          <a:xfrm>
            <a:off x="9793224" y="5559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d'images</a:t>
            </a:r>
            <a:endParaRPr lang="en-US" sz="900" dirty="0"/>
          </a:p>
        </p:txBody>
      </p:sp>
      <p:sp>
        <p:nvSpPr>
          <p:cNvPr id="67" name="Text 5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68" name="Text 56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· FINANCE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FINANCIERS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écosystème de paiement robuste et complet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1188" y="2194560"/>
            <a:ext cx="3703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1188" y="2194560"/>
            <a:ext cx="73152" cy="12344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589788" y="2468880"/>
            <a:ext cx="685800" cy="68580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093" y="2623185"/>
            <a:ext cx="377190" cy="3771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2748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Portefeuille électronique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12748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unifié pour tous les flux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29100" y="2194560"/>
            <a:ext cx="3703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29100" y="2194560"/>
            <a:ext cx="73152" cy="12344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Shape 12"/>
          <p:cNvSpPr/>
          <p:nvPr/>
        </p:nvSpPr>
        <p:spPr>
          <a:xfrm>
            <a:off x="4457700" y="2468880"/>
            <a:ext cx="685800" cy="68580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005" y="2623185"/>
            <a:ext cx="377190" cy="3771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80660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Money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28066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· MTN · Wave · Moov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97012" y="2194560"/>
            <a:ext cx="3703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97012" y="2194560"/>
            <a:ext cx="73152" cy="12344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Shape 17"/>
          <p:cNvSpPr/>
          <p:nvPr/>
        </p:nvSpPr>
        <p:spPr>
          <a:xfrm>
            <a:off x="8325612" y="2468880"/>
            <a:ext cx="685800" cy="68580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917" y="2623185"/>
            <a:ext cx="377190" cy="3771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48572" y="2377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 / PayPal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9148572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internationaux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61188" y="3593592"/>
            <a:ext cx="3703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61188" y="3593592"/>
            <a:ext cx="73152" cy="12344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Shape 22"/>
          <p:cNvSpPr/>
          <p:nvPr/>
        </p:nvSpPr>
        <p:spPr>
          <a:xfrm>
            <a:off x="589788" y="3867912"/>
            <a:ext cx="685800" cy="68580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93" y="4022217"/>
            <a:ext cx="377190" cy="3771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2748" y="3776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des loyers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412748" y="4233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automatisée mensuelle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229100" y="3593592"/>
            <a:ext cx="3703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229100" y="3593592"/>
            <a:ext cx="73152" cy="12344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Shape 27"/>
          <p:cNvSpPr/>
          <p:nvPr/>
        </p:nvSpPr>
        <p:spPr>
          <a:xfrm>
            <a:off x="4457700" y="3867912"/>
            <a:ext cx="685800" cy="68580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005" y="4022217"/>
            <a:ext cx="377190" cy="37719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280660" y="3776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Abonnements premium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5280660" y="4233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pour pros et particuliers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097012" y="3593592"/>
            <a:ext cx="3703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097012" y="3593592"/>
            <a:ext cx="73152" cy="12344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9" name="Shape 32"/>
          <p:cNvSpPr/>
          <p:nvPr/>
        </p:nvSpPr>
        <p:spPr>
          <a:xfrm>
            <a:off x="8325612" y="3867912"/>
            <a:ext cx="685800" cy="68580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917" y="4022217"/>
            <a:ext cx="377190" cy="37719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148572" y="37764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Commissions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9148572" y="4233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et transparent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361188" y="4992624"/>
            <a:ext cx="3703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361188" y="4992624"/>
            <a:ext cx="73152" cy="12344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5" name="Shape 37"/>
          <p:cNvSpPr/>
          <p:nvPr/>
        </p:nvSpPr>
        <p:spPr>
          <a:xfrm>
            <a:off x="589788" y="5266944"/>
            <a:ext cx="685800" cy="68580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093" y="5421249"/>
            <a:ext cx="377190" cy="37719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412748" y="51755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Facturation</a:t>
            </a:r>
            <a:endParaRPr lang="en-US" sz="1400" dirty="0"/>
          </a:p>
        </p:txBody>
      </p:sp>
      <p:sp>
        <p:nvSpPr>
          <p:cNvPr id="48" name="Text 39"/>
          <p:cNvSpPr/>
          <p:nvPr/>
        </p:nvSpPr>
        <p:spPr>
          <a:xfrm>
            <a:off x="1412748" y="56327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 et suivi des factures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4229100" y="4992624"/>
            <a:ext cx="3703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4229100" y="4992624"/>
            <a:ext cx="73152" cy="12344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1" name="Shape 42"/>
          <p:cNvSpPr/>
          <p:nvPr/>
        </p:nvSpPr>
        <p:spPr>
          <a:xfrm>
            <a:off x="4457700" y="5266944"/>
            <a:ext cx="685800" cy="68580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2005" y="5421249"/>
            <a:ext cx="377190" cy="37719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280660" y="51755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Escrow / Protection</a:t>
            </a:r>
            <a:endParaRPr lang="en-US" sz="1400" dirty="0"/>
          </a:p>
        </p:txBody>
      </p:sp>
      <p:sp>
        <p:nvSpPr>
          <p:cNvPr id="54" name="Text 44"/>
          <p:cNvSpPr/>
          <p:nvPr/>
        </p:nvSpPr>
        <p:spPr>
          <a:xfrm>
            <a:off x="5280660" y="56327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 des transactions</a:t>
            </a:r>
            <a:endParaRPr lang="en-US" sz="1050" dirty="0"/>
          </a:p>
        </p:txBody>
      </p:sp>
      <p:sp>
        <p:nvSpPr>
          <p:cNvPr id="55" name="Shape 45"/>
          <p:cNvSpPr/>
          <p:nvPr/>
        </p:nvSpPr>
        <p:spPr>
          <a:xfrm>
            <a:off x="8097012" y="4992624"/>
            <a:ext cx="3703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8097012" y="4992624"/>
            <a:ext cx="73152" cy="12344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7" name="Shape 47"/>
          <p:cNvSpPr/>
          <p:nvPr/>
        </p:nvSpPr>
        <p:spPr>
          <a:xfrm>
            <a:off x="8325612" y="5266944"/>
            <a:ext cx="685800" cy="68580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9917" y="5421249"/>
            <a:ext cx="377190" cy="377190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9148572" y="51755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Micro-financement</a:t>
            </a:r>
            <a:endParaRPr lang="en-US" sz="1400" dirty="0"/>
          </a:p>
        </p:txBody>
      </p:sp>
      <p:sp>
        <p:nvSpPr>
          <p:cNvPr id="60" name="Text 49"/>
          <p:cNvSpPr/>
          <p:nvPr/>
        </p:nvSpPr>
        <p:spPr>
          <a:xfrm>
            <a:off x="9148572" y="56327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Crédits immobiliers digitaux</a:t>
            </a:r>
            <a:endParaRPr lang="en-US" sz="1050" dirty="0"/>
          </a:p>
        </p:txBody>
      </p:sp>
      <p:sp>
        <p:nvSpPr>
          <p:cNvPr id="61" name="Text 5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62" name="Text 51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03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architecture modulaire, scalable et premium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2743200" cy="9144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286000"/>
            <a:ext cx="27432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68880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371" y="2602611"/>
            <a:ext cx="326898" cy="3268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20040" y="32004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337560"/>
            <a:ext cx="2377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S3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(Channels)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2286000"/>
            <a:ext cx="2743200" cy="9144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2286000"/>
            <a:ext cx="27432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Shape 13"/>
          <p:cNvSpPr/>
          <p:nvPr/>
        </p:nvSpPr>
        <p:spPr>
          <a:xfrm>
            <a:off x="3474720" y="2468880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451" y="2602611"/>
            <a:ext cx="326898" cy="32689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0624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Web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246120" y="32004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74720" y="3337560"/>
            <a:ext cx="2377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premium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fluides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ready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172200" y="2286000"/>
            <a:ext cx="2743200" cy="9144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2286000"/>
            <a:ext cx="27432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3" name="Shape 19"/>
          <p:cNvSpPr/>
          <p:nvPr/>
        </p:nvSpPr>
        <p:spPr>
          <a:xfrm>
            <a:off x="6400800" y="2468880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531" y="2602611"/>
            <a:ext cx="326898" cy="32689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172200" y="32004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00800" y="3337560"/>
            <a:ext cx="2377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/ Bloc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Notifications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 native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Android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first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9098280" y="2286000"/>
            <a:ext cx="2743200" cy="9144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098280" y="2286000"/>
            <a:ext cx="27432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0" name="Shape 25"/>
          <p:cNvSpPr/>
          <p:nvPr/>
        </p:nvSpPr>
        <p:spPr>
          <a:xfrm>
            <a:off x="9326880" y="2468880"/>
            <a:ext cx="594360" cy="59436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611" y="2602611"/>
            <a:ext cx="326898" cy="32689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05840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098280" y="3200400"/>
            <a:ext cx="2743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326880" y="3337560"/>
            <a:ext cx="2377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/ Nginx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(futur)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24/7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BACKEND DJANGO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BACKEND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architecture en 6 domaines métiers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1188" y="2331720"/>
            <a:ext cx="370332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" y="2331720"/>
            <a:ext cx="73152" cy="1783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" y="2606040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526" y="2750058"/>
            <a:ext cx="352044" cy="3520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58468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5508" y="3154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permissions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OAuth2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29100" y="2331720"/>
            <a:ext cx="370332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29100" y="2331720"/>
            <a:ext cx="73152" cy="1783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Shape 12"/>
          <p:cNvSpPr/>
          <p:nvPr/>
        </p:nvSpPr>
        <p:spPr>
          <a:xfrm>
            <a:off x="4503420" y="2606040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438" y="275005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2638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Immobilier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503420" y="3154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Propriétés · Annonces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· Contrats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· Réservations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97012" y="2331720"/>
            <a:ext cx="370332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97012" y="2331720"/>
            <a:ext cx="73152" cy="1783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Shape 17"/>
          <p:cNvSpPr/>
          <p:nvPr/>
        </p:nvSpPr>
        <p:spPr>
          <a:xfrm>
            <a:off x="8371332" y="2606040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2750058"/>
            <a:ext cx="352044" cy="3520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94292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371332" y="31546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Métiers · Commandes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· Interventions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61188" y="4279392"/>
            <a:ext cx="370332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61188" y="4279392"/>
            <a:ext cx="73152" cy="1783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Shape 22"/>
          <p:cNvSpPr/>
          <p:nvPr/>
        </p:nvSpPr>
        <p:spPr>
          <a:xfrm>
            <a:off x="635508" y="4553712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" y="4697730"/>
            <a:ext cx="352044" cy="3520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58468" y="4507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City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635508" y="510235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· RFID · QR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229100" y="4279392"/>
            <a:ext cx="370332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229100" y="4279392"/>
            <a:ext cx="73152" cy="1783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Shape 27"/>
          <p:cNvSpPr/>
          <p:nvPr/>
        </p:nvSpPr>
        <p:spPr>
          <a:xfrm>
            <a:off x="4503420" y="4553712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438" y="4697730"/>
            <a:ext cx="352044" cy="3520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26380" y="4507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4503420" y="510235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8097012" y="4279392"/>
            <a:ext cx="370332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097012" y="4279392"/>
            <a:ext cx="73152" cy="1783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9" name="Shape 32"/>
          <p:cNvSpPr/>
          <p:nvPr/>
        </p:nvSpPr>
        <p:spPr>
          <a:xfrm>
            <a:off x="8371332" y="4553712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350" y="4697730"/>
            <a:ext cx="352044" cy="3520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194292" y="4507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42" name="Text 34"/>
          <p:cNvSpPr/>
          <p:nvPr/>
        </p:nvSpPr>
        <p:spPr>
          <a:xfrm>
            <a:off x="8371332" y="510235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SMS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VUE D'ENSEMBLE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GLOBAL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client à l'infrastructure : 4 couches connectées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10972800" cy="9601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286000"/>
            <a:ext cx="73152" cy="9601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2542032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9302" y="2644902"/>
            <a:ext cx="251460" cy="2514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97764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(React)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94960" y="2377440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68112" y="2542032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982" y="2644902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8932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(Flutter)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406640" y="2377440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79792" y="2542032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662" y="2644902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0100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418320" y="2377440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491472" y="2542032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342" y="2644902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1268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grand public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080760" y="3250692"/>
            <a:ext cx="0" cy="100584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94360" y="3355848"/>
            <a:ext cx="10972800" cy="960120"/>
          </a:xfrm>
          <a:prstGeom prst="rect">
            <a:avLst/>
          </a:prstGeom>
          <a:solidFill>
            <a:srgbClr val="C9A961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94360" y="3355848"/>
            <a:ext cx="73152" cy="9601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9" name="Text 23"/>
          <p:cNvSpPr/>
          <p:nvPr/>
        </p:nvSpPr>
        <p:spPr>
          <a:xfrm>
            <a:off x="777240" y="344728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SERVICES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383280" y="3447288"/>
            <a:ext cx="1920240" cy="77724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456432" y="361188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302" y="3714750"/>
            <a:ext cx="251460" cy="2514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77640" y="35387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JWT/OAuth2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394960" y="3447288"/>
            <a:ext cx="1920240" cy="77724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468112" y="361188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0982" y="3714750"/>
            <a:ext cx="251460" cy="2514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989320" y="35387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7406640" y="3447288"/>
            <a:ext cx="1920240" cy="77724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479792" y="361188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2662" y="3714750"/>
            <a:ext cx="251460" cy="25146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001000" y="35387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9418320" y="3447288"/>
            <a:ext cx="1920240" cy="77724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9491472" y="361188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4342" y="3714750"/>
            <a:ext cx="251460" cy="2514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0012680" y="35387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/ Redis</a:t>
            </a:r>
            <a:endParaRPr lang="en-US" sz="950" dirty="0"/>
          </a:p>
        </p:txBody>
      </p:sp>
      <p:sp>
        <p:nvSpPr>
          <p:cNvPr id="46" name="Shape 36"/>
          <p:cNvSpPr/>
          <p:nvPr/>
        </p:nvSpPr>
        <p:spPr>
          <a:xfrm>
            <a:off x="6080760" y="4320540"/>
            <a:ext cx="0" cy="100584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  <a:tailEnd type="triangle"/>
          </a:ln>
        </p:spPr>
      </p:sp>
      <p:sp>
        <p:nvSpPr>
          <p:cNvPr id="47" name="Shape 37"/>
          <p:cNvSpPr/>
          <p:nvPr/>
        </p:nvSpPr>
        <p:spPr>
          <a:xfrm>
            <a:off x="594360" y="4425696"/>
            <a:ext cx="10972800" cy="960120"/>
          </a:xfrm>
          <a:prstGeom prst="rect">
            <a:avLst/>
          </a:prstGeom>
          <a:solidFill>
            <a:srgbClr val="1529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594360" y="4425696"/>
            <a:ext cx="73152" cy="9601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9" name="Text 39"/>
          <p:cNvSpPr/>
          <p:nvPr/>
        </p:nvSpPr>
        <p:spPr>
          <a:xfrm>
            <a:off x="777240" y="451713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MÉTIERS</a:t>
            </a:r>
            <a:endParaRPr lang="en-US" sz="1100" dirty="0"/>
          </a:p>
        </p:txBody>
      </p:sp>
      <p:sp>
        <p:nvSpPr>
          <p:cNvPr id="50" name="Shape 40"/>
          <p:cNvSpPr/>
          <p:nvPr/>
        </p:nvSpPr>
        <p:spPr>
          <a:xfrm>
            <a:off x="3383280" y="4517136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3456432" y="4681728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9302" y="4784598"/>
            <a:ext cx="251460" cy="25146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3977640" y="4608576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</a:t>
            </a:r>
            <a:endParaRPr lang="en-US" sz="950" dirty="0"/>
          </a:p>
        </p:txBody>
      </p:sp>
      <p:sp>
        <p:nvSpPr>
          <p:cNvPr id="54" name="Shape 43"/>
          <p:cNvSpPr/>
          <p:nvPr/>
        </p:nvSpPr>
        <p:spPr>
          <a:xfrm>
            <a:off x="5394960" y="4517136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468112" y="4681728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0982" y="4784598"/>
            <a:ext cx="251460" cy="25146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5989320" y="4608576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50" dirty="0"/>
          </a:p>
        </p:txBody>
      </p:sp>
      <p:sp>
        <p:nvSpPr>
          <p:cNvPr id="58" name="Shape 46"/>
          <p:cNvSpPr/>
          <p:nvPr/>
        </p:nvSpPr>
        <p:spPr>
          <a:xfrm>
            <a:off x="7406640" y="4517136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7479792" y="4681728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2662" y="4784598"/>
            <a:ext cx="251460" cy="25146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8001000" y="4608576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950" dirty="0"/>
          </a:p>
        </p:txBody>
      </p:sp>
      <p:sp>
        <p:nvSpPr>
          <p:cNvPr id="62" name="Shape 49"/>
          <p:cNvSpPr/>
          <p:nvPr/>
        </p:nvSpPr>
        <p:spPr>
          <a:xfrm>
            <a:off x="9418320" y="4517136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9491472" y="4681728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94342" y="4784598"/>
            <a:ext cx="251460" cy="251460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10012680" y="4608576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</a:t>
            </a:r>
            <a:endParaRPr lang="en-US" sz="950" dirty="0"/>
          </a:p>
        </p:txBody>
      </p:sp>
      <p:sp>
        <p:nvSpPr>
          <p:cNvPr id="66" name="Shape 52"/>
          <p:cNvSpPr/>
          <p:nvPr/>
        </p:nvSpPr>
        <p:spPr>
          <a:xfrm>
            <a:off x="6080760" y="5390388"/>
            <a:ext cx="0" cy="100584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  <a:tailEnd type="triangle"/>
          </a:ln>
        </p:spPr>
      </p:sp>
      <p:sp>
        <p:nvSpPr>
          <p:cNvPr id="67" name="Shape 53"/>
          <p:cNvSpPr/>
          <p:nvPr/>
        </p:nvSpPr>
        <p:spPr>
          <a:xfrm>
            <a:off x="594360" y="5495544"/>
            <a:ext cx="10972800" cy="9601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8" name="Shape 54"/>
          <p:cNvSpPr/>
          <p:nvPr/>
        </p:nvSpPr>
        <p:spPr>
          <a:xfrm>
            <a:off x="594360" y="5495544"/>
            <a:ext cx="73152" cy="9601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9" name="Text 55"/>
          <p:cNvSpPr/>
          <p:nvPr/>
        </p:nvSpPr>
        <p:spPr>
          <a:xfrm>
            <a:off x="777240" y="558698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INFRASTRUCTURE</a:t>
            </a:r>
            <a:endParaRPr lang="en-US" sz="1100" dirty="0"/>
          </a:p>
        </p:txBody>
      </p:sp>
      <p:sp>
        <p:nvSpPr>
          <p:cNvPr id="70" name="Shape 56"/>
          <p:cNvSpPr/>
          <p:nvPr/>
        </p:nvSpPr>
        <p:spPr>
          <a:xfrm>
            <a:off x="3383280" y="5586984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71" name="Shape 57"/>
          <p:cNvSpPr/>
          <p:nvPr/>
        </p:nvSpPr>
        <p:spPr>
          <a:xfrm>
            <a:off x="3456432" y="5751576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7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9302" y="5854446"/>
            <a:ext cx="251460" cy="251460"/>
          </a:xfrm>
          <a:prstGeom prst="rect">
            <a:avLst/>
          </a:prstGeom>
        </p:spPr>
      </p:pic>
      <p:sp>
        <p:nvSpPr>
          <p:cNvPr id="73" name="Text 58"/>
          <p:cNvSpPr/>
          <p:nvPr/>
        </p:nvSpPr>
        <p:spPr>
          <a:xfrm>
            <a:off x="3977640" y="567842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PostgreSQL/PostGIS</a:t>
            </a:r>
            <a:endParaRPr lang="en-US" sz="950" dirty="0"/>
          </a:p>
        </p:txBody>
      </p:sp>
      <p:sp>
        <p:nvSpPr>
          <p:cNvPr id="74" name="Shape 59"/>
          <p:cNvSpPr/>
          <p:nvPr/>
        </p:nvSpPr>
        <p:spPr>
          <a:xfrm>
            <a:off x="5394960" y="5586984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75" name="Shape 60"/>
          <p:cNvSpPr/>
          <p:nvPr/>
        </p:nvSpPr>
        <p:spPr>
          <a:xfrm>
            <a:off x="5468112" y="5751576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7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70982" y="5854446"/>
            <a:ext cx="251460" cy="251460"/>
          </a:xfrm>
          <a:prstGeom prst="rect">
            <a:avLst/>
          </a:prstGeom>
        </p:spPr>
      </p:pic>
      <p:sp>
        <p:nvSpPr>
          <p:cNvPr id="77" name="Text 61"/>
          <p:cNvSpPr/>
          <p:nvPr/>
        </p:nvSpPr>
        <p:spPr>
          <a:xfrm>
            <a:off x="5989320" y="567842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S3</a:t>
            </a:r>
            <a:endParaRPr lang="en-US" sz="950" dirty="0"/>
          </a:p>
        </p:txBody>
      </p:sp>
      <p:sp>
        <p:nvSpPr>
          <p:cNvPr id="78" name="Shape 62"/>
          <p:cNvSpPr/>
          <p:nvPr/>
        </p:nvSpPr>
        <p:spPr>
          <a:xfrm>
            <a:off x="7406640" y="5586984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79" name="Shape 63"/>
          <p:cNvSpPr/>
          <p:nvPr/>
        </p:nvSpPr>
        <p:spPr>
          <a:xfrm>
            <a:off x="7479792" y="5751576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8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2662" y="5854446"/>
            <a:ext cx="251460" cy="251460"/>
          </a:xfrm>
          <a:prstGeom prst="rect">
            <a:avLst/>
          </a:prstGeom>
        </p:spPr>
      </p:pic>
      <p:sp>
        <p:nvSpPr>
          <p:cNvPr id="81" name="Text 64"/>
          <p:cNvSpPr/>
          <p:nvPr/>
        </p:nvSpPr>
        <p:spPr>
          <a:xfrm>
            <a:off x="8001000" y="567842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K8s</a:t>
            </a:r>
            <a:endParaRPr lang="en-US" sz="950" dirty="0"/>
          </a:p>
        </p:txBody>
      </p:sp>
      <p:sp>
        <p:nvSpPr>
          <p:cNvPr id="82" name="Shape 65"/>
          <p:cNvSpPr/>
          <p:nvPr/>
        </p:nvSpPr>
        <p:spPr>
          <a:xfrm>
            <a:off x="9418320" y="5586984"/>
            <a:ext cx="192024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83" name="Shape 66"/>
          <p:cNvSpPr/>
          <p:nvPr/>
        </p:nvSpPr>
        <p:spPr>
          <a:xfrm>
            <a:off x="9491472" y="5751576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8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94342" y="5854446"/>
            <a:ext cx="251460" cy="251460"/>
          </a:xfrm>
          <a:prstGeom prst="rect">
            <a:avLst/>
          </a:prstGeom>
        </p:spPr>
      </p:pic>
      <p:sp>
        <p:nvSpPr>
          <p:cNvPr id="85" name="Text 67"/>
          <p:cNvSpPr/>
          <p:nvPr/>
        </p:nvSpPr>
        <p:spPr>
          <a:xfrm>
            <a:off x="10012680" y="567842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Grafana/Prometheus</a:t>
            </a:r>
            <a:endParaRPr lang="en-US" sz="950" dirty="0"/>
          </a:p>
        </p:txBody>
      </p:sp>
      <p:sp>
        <p:nvSpPr>
          <p:cNvPr id="86" name="Text 6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87" name="Text 69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04 ·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PREMIUM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signature visuelle smart, urbaine et minimaliste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DE 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5212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60604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2856357"/>
            <a:ext cx="276606" cy="27660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017520" y="2697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Soin du détail, finitions luxueuses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" y="3474720"/>
            <a:ext cx="5212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" y="347472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97" y="3725037"/>
            <a:ext cx="276606" cy="27660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732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City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017520" y="3566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 futuriste et technologique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94360" y="4343400"/>
            <a:ext cx="5212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4360" y="434340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4593717"/>
            <a:ext cx="276606" cy="27660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Minimaliste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30175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blancs, hiérarchie claire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94360" y="5212080"/>
            <a:ext cx="5212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94360" y="5212080"/>
            <a:ext cx="73152" cy="7772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8" name="Shape 23"/>
          <p:cNvSpPr/>
          <p:nvPr/>
        </p:nvSpPr>
        <p:spPr>
          <a:xfrm>
            <a:off x="777240" y="534924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5462397"/>
            <a:ext cx="276606" cy="27660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17320" y="5303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3017520" y="5303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animés, fluides, rapides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989320" y="2194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989320" y="2606040"/>
            <a:ext cx="1188720" cy="777240"/>
          </a:xfrm>
          <a:prstGeom prst="rect">
            <a:avLst/>
          </a:prstGeom>
          <a:solidFill>
            <a:srgbClr val="2563E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7315200" y="2697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Bleu intelligent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31520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#2563EB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989320" y="3474720"/>
            <a:ext cx="11887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731520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Blanc pur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315200" y="3886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989320" y="4343400"/>
            <a:ext cx="1188720" cy="777240"/>
          </a:xfrm>
          <a:prstGeom prst="rect">
            <a:avLst/>
          </a:prstGeom>
          <a:solidFill>
            <a:srgbClr val="10B98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731520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 urbain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7315200" y="4754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#10B981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5989320" y="5212080"/>
            <a:ext cx="1188720" cy="777240"/>
          </a:xfrm>
          <a:prstGeom prst="rect">
            <a:avLst/>
          </a:prstGeom>
          <a:solidFill>
            <a:srgbClr val="0A1628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7315200" y="5303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Gris anthracite</a:t>
            </a:r>
            <a:endParaRPr lang="en-US" sz="1400" dirty="0"/>
          </a:p>
        </p:txBody>
      </p:sp>
      <p:sp>
        <p:nvSpPr>
          <p:cNvPr id="44" name="Text 38"/>
          <p:cNvSpPr/>
          <p:nvPr/>
        </p:nvSpPr>
        <p:spPr>
          <a:xfrm>
            <a:off x="7315200" y="5623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INSPIRATIONS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D'INSPIRATION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meilleur des plateformes de référence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38912" y="2331720"/>
            <a:ext cx="269748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2331720"/>
            <a:ext cx="269748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606040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2750058"/>
            <a:ext cx="352044" cy="3520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90472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7512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immobilière fluide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00984" y="2331720"/>
            <a:ext cx="269748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00984" y="2331720"/>
            <a:ext cx="269748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Shape 12"/>
          <p:cNvSpPr/>
          <p:nvPr/>
        </p:nvSpPr>
        <p:spPr>
          <a:xfrm>
            <a:off x="3529584" y="2606040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02" y="275005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52544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Property24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29584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immobilier riche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63056" y="2331720"/>
            <a:ext cx="269748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63056" y="2331720"/>
            <a:ext cx="269748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Shape 17"/>
          <p:cNvSpPr/>
          <p:nvPr/>
        </p:nvSpPr>
        <p:spPr>
          <a:xfrm>
            <a:off x="6391656" y="2606040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674" y="2750058"/>
            <a:ext cx="352044" cy="3520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14616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Jiji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91656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locale efficace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2331720"/>
            <a:ext cx="269748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025128" y="2331720"/>
            <a:ext cx="269748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Shape 22"/>
          <p:cNvSpPr/>
          <p:nvPr/>
        </p:nvSpPr>
        <p:spPr>
          <a:xfrm>
            <a:off x="9253728" y="2606040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746" y="2750058"/>
            <a:ext cx="352044" cy="3520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076688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253728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 &amp; temps réel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38912" y="4279392"/>
            <a:ext cx="269748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38912" y="4279392"/>
            <a:ext cx="269748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3" name="Shape 27"/>
          <p:cNvSpPr/>
          <p:nvPr/>
        </p:nvSpPr>
        <p:spPr>
          <a:xfrm>
            <a:off x="667512" y="4553712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4697730"/>
            <a:ext cx="352044" cy="3520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490472" y="4553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TaskRabbit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667512" y="53309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services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3300984" y="4279392"/>
            <a:ext cx="269748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3300984" y="4279392"/>
            <a:ext cx="269748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9" name="Shape 32"/>
          <p:cNvSpPr/>
          <p:nvPr/>
        </p:nvSpPr>
        <p:spPr>
          <a:xfrm>
            <a:off x="3529584" y="4553712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3602" y="4697730"/>
            <a:ext cx="352044" cy="3520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352544" y="4553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3529584" y="53309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et confiance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6163056" y="4279392"/>
            <a:ext cx="269748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163056" y="4279392"/>
            <a:ext cx="269748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5" name="Shape 37"/>
          <p:cNvSpPr/>
          <p:nvPr/>
        </p:nvSpPr>
        <p:spPr>
          <a:xfrm>
            <a:off x="6391656" y="4553712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5674" y="4697730"/>
            <a:ext cx="352044" cy="35204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7214616" y="4553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 Services</a:t>
            </a:r>
            <a:endParaRPr lang="en-US" sz="1600" dirty="0"/>
          </a:p>
        </p:txBody>
      </p:sp>
      <p:sp>
        <p:nvSpPr>
          <p:cNvPr id="48" name="Text 39"/>
          <p:cNvSpPr/>
          <p:nvPr/>
        </p:nvSpPr>
        <p:spPr>
          <a:xfrm>
            <a:off x="6391656" y="53309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professionnels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9025128" y="4279392"/>
            <a:ext cx="2697480" cy="1783080"/>
          </a:xfrm>
          <a:prstGeom prst="rect">
            <a:avLst/>
          </a:prstGeom>
          <a:solidFill>
            <a:srgbClr val="15294A"/>
          </a:solidFill>
          <a:ln w="9525">
            <a:solidFill>
              <a:srgbClr val="243657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9025128" y="4279392"/>
            <a:ext cx="269748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1" name="Shape 42"/>
          <p:cNvSpPr/>
          <p:nvPr/>
        </p:nvSpPr>
        <p:spPr>
          <a:xfrm>
            <a:off x="9253728" y="4553712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7746" y="4697730"/>
            <a:ext cx="352044" cy="352044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10076688" y="4553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City Refs</a:t>
            </a:r>
            <a:endParaRPr lang="en-US" sz="1600" dirty="0"/>
          </a:p>
        </p:txBody>
      </p:sp>
      <p:sp>
        <p:nvSpPr>
          <p:cNvPr id="54" name="Text 44"/>
          <p:cNvSpPr/>
          <p:nvPr/>
        </p:nvSpPr>
        <p:spPr>
          <a:xfrm>
            <a:off x="9253728" y="53309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Singapour, Dubaï, Abidjan</a:t>
            </a:r>
            <a:endParaRPr lang="en-US" sz="1100" dirty="0"/>
          </a:p>
        </p:txBody>
      </p:sp>
      <p:sp>
        <p:nvSpPr>
          <p:cNvPr id="55" name="Text 4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PROJETÉ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"/>
            <a:ext cx="54864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chiffres qui définissent l'ambition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1188" y="228600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1188" y="2286000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" y="2514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2281428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1428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 tout-en-un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29100" y="228600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29100" y="2286000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03420" y="2514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614934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49340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handyman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7012" y="2286000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97012" y="2286000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8371332" y="2514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10017252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17252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intégrée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1188" y="4142232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1188" y="4142232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" y="4370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2281428" y="46451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SMART CITY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1428" y="50109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Ville connectée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29100" y="4142232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29100" y="4142232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03420" y="4370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6400" dirty="0"/>
          </a:p>
        </p:txBody>
      </p:sp>
      <p:sp>
        <p:nvSpPr>
          <p:cNvPr id="30" name="Text 28"/>
          <p:cNvSpPr/>
          <p:nvPr/>
        </p:nvSpPr>
        <p:spPr>
          <a:xfrm>
            <a:off x="6149340" y="46451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BACKEND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49340" y="50109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modulaire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97012" y="4142232"/>
            <a:ext cx="37033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97012" y="4142232"/>
            <a:ext cx="73152" cy="1691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4" name="Text 32"/>
          <p:cNvSpPr/>
          <p:nvPr/>
        </p:nvSpPr>
        <p:spPr>
          <a:xfrm>
            <a:off x="8371332" y="4370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6400" dirty="0"/>
          </a:p>
        </p:txBody>
      </p:sp>
      <p:sp>
        <p:nvSpPr>
          <p:cNvPr id="35" name="Text 33"/>
          <p:cNvSpPr/>
          <p:nvPr/>
        </p:nvSpPr>
        <p:spPr>
          <a:xfrm>
            <a:off x="10017252" y="46451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ACTEURS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17252" y="50109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Écosystème complet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 ·  IMMOBILIER INTELLIGENT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Architecture ·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3154680"/>
            <a:ext cx="731520" cy="365760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2057400"/>
            <a:ext cx="548640" cy="4754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3611880"/>
            <a:ext cx="914400" cy="320040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2606040"/>
            <a:ext cx="548640" cy="4206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0" y="2971800"/>
            <a:ext cx="640080" cy="384048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i="1" spc="12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4630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City  ·  Immobilier Intelligent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Construisons ensemble la prochaine génération de plateformes immobilières et urbaines.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6675120" cy="1280160"/>
          </a:xfrm>
          <a:prstGeom prst="rect">
            <a:avLst/>
          </a:prstGeom>
          <a:solidFill>
            <a:srgbClr val="15294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206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01. Validation de la vision   ·   02. Design system   ·   03. MVP backend &amp; mobile   ·   04. Pilote terrain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·  ARCHITECTURE  ·  EXPÉRIENCE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Smart City / Immobilier Intelligent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City / Immobilier Intelligent — Vision Premium</dc:title>
  <dc:subject>PptxGenJS Presentation</dc:subject>
  <dc:creator>Smart City / Immobilier Intelligent</dc:creator>
  <cp:lastModifiedBy>Smart City / Immobilier Intelligent</cp:lastModifiedBy>
  <cp:revision>1</cp:revision>
  <dcterms:created xsi:type="dcterms:W3CDTF">2026-05-07T10:38:02Z</dcterms:created>
  <dcterms:modified xsi:type="dcterms:W3CDTF">2026-05-07T10:38:02Z</dcterms:modified>
</cp:coreProperties>
</file>